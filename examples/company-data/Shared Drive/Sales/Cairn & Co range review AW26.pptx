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00000"/>
            <a:ext cx="8229600" cy="7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2800"/>
              <a:t>Kestrel Bay x Cairn &amp; Co Outfitters - AW26 range review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100000"/>
            <a:ext cx="8229600" cy="38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1600"/>
              <a:t>• Presented at Cairn &amp; Co head office, Keswick, 9 June 2026</a:t>
            </a:r>
          </a:p>
          <a:p>
            <a:r>
              <a:rPr lang="en-GB" sz="1600"/>
              <a:t>• James Corrigan, Ben Hollis and Lukas Brandt (Kestrel Bay Supplies Ltd)</a:t>
            </a:r>
          </a:p>
          <a:p>
            <a:r>
              <a:rPr lang="en-GB" sz="1600"/>
              <a:t>• Confidential - shared under the mutual NDA of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00000"/>
            <a:ext cx="8229600" cy="7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2800"/>
              <a:t>Our partnership so far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100000"/>
            <a:ext cx="8229600" cy="38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1600"/>
              <a:t>• Trading since 2023; stocked in all 14 Cairn &amp; Co stores</a:t>
            </a:r>
          </a:p>
          <a:p>
            <a:r>
              <a:rPr lang="en-GB" sz="1600"/>
              <a:t>• 2025 purchases £148,600 at trade prices (+23% on 2024)</a:t>
            </a:r>
          </a:p>
          <a:p>
            <a:r>
              <a:rPr lang="en-GB" sz="1600"/>
              <a:t>• Full-price sell-through 71% on AW25 (category average 58%)</a:t>
            </a:r>
          </a:p>
          <a:p>
            <a:r>
              <a:rPr lang="en-GB" sz="1600"/>
              <a:t>• Top lines: Fellwalker 3 tent, Tarn 45L rucksack, Kestrel Lite -5 sleeping bag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00000"/>
            <a:ext cx="8229600" cy="7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2800"/>
              <a:t>AW25 performance by line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100000"/>
            <a:ext cx="8229600" cy="38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1600"/>
              <a:t>• Fellwalker 3: 212 units sold, 4% returns, sold out in October</a:t>
            </a:r>
          </a:p>
          <a:p>
            <a:r>
              <a:rPr lang="en-GB" sz="1600"/>
              <a:t>• Tarn 45L slate: 388 units, strongest in Keswick and Ambleside stores</a:t>
            </a:r>
          </a:p>
          <a:p>
            <a:r>
              <a:rPr lang="en-GB" sz="1600"/>
              <a:t>• Emberlite 2 stove: 610 units, often bought with gas bundles</a:t>
            </a:r>
          </a:p>
          <a:p>
            <a:r>
              <a:rPr lang="en-GB" sz="1600"/>
              <a:t>• Stormshell jacket: 41% sell-through, too many size L and XL - fix the size curve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00000"/>
            <a:ext cx="8229600" cy="7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2800"/>
              <a:t>Recommended AW26 range for Cairn &amp; Co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100000"/>
            <a:ext cx="8229600" cy="38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1600"/>
              <a:t>• Keep: Fellwalker 3, Tarn 45L, Kestrel Lite -5, Emberlite 2</a:t>
            </a:r>
          </a:p>
          <a:p>
            <a:r>
              <a:rPr lang="en-GB" sz="1600"/>
              <a:t>• Add: Ridgeback 2P (from February 2027), Driftwood camp chair</a:t>
            </a:r>
          </a:p>
          <a:p>
            <a:r>
              <a:rPr lang="en-GB" sz="1600"/>
              <a:t>• Reduce: Stormshell jacket to 6 core sizes per store</a:t>
            </a:r>
          </a:p>
          <a:p>
            <a:r>
              <a:rPr lang="en-GB" sz="1600"/>
              <a:t>• Suggested opening order £61,800 at trade, delivered in 3 drops (August, September, October)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00000"/>
            <a:ext cx="8229600" cy="7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2800"/>
              <a:t>Own-label concept - "Cairn Trail by Kestrel Bay"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100000"/>
            <a:ext cx="8229600" cy="38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1600"/>
              <a:t>• 2 tents (2-person and 4-person) and 2 sleeping bags in Cairn &amp; Co colours</a:t>
            </a:r>
          </a:p>
          <a:p>
            <a:r>
              <a:rPr lang="en-GB" sz="1600"/>
              <a:t>• Designed by our team, made in our existing factories, exclusive to Cairn &amp; Co</a:t>
            </a:r>
          </a:p>
          <a:p>
            <a:r>
              <a:rPr lang="en-GB" sz="1600"/>
              <a:t>• Minimum order 600 units per style per season</a:t>
            </a:r>
          </a:p>
          <a:p>
            <a:r>
              <a:rPr lang="en-GB" sz="1600"/>
              <a:t>• First delivery for spring/summer 2027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00000"/>
            <a:ext cx="8229600" cy="7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2800"/>
              <a:t>Pricing and margin (own-label)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100000"/>
            <a:ext cx="8229600" cy="38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1600"/>
              <a:t>• Target retailer margin 52% at recommended retail prices</a:t>
            </a:r>
          </a:p>
          <a:p>
            <a:r>
              <a:rPr lang="en-GB" sz="1600"/>
              <a:t>• Trade prices held for 12 months from first order</a:t>
            </a:r>
          </a:p>
          <a:p>
            <a:r>
              <a:rPr lang="en-GB" sz="1600"/>
              <a:t>• 2% settlement discount for payment within 14 days</a:t>
            </a:r>
          </a:p>
          <a:p>
            <a:r>
              <a:rPr lang="en-GB" sz="1600"/>
              <a:t>• Volume tier B discount (8%) continues on branded lines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00000"/>
            <a:ext cx="8229600" cy="7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2800"/>
              <a:t>Timeline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100000"/>
            <a:ext cx="8229600" cy="38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1600"/>
              <a:t>• June 2026: agree range and own-label brief</a:t>
            </a:r>
          </a:p>
          <a:p>
            <a:r>
              <a:rPr lang="en-GB" sz="1600"/>
              <a:t>• July-August 2026: design and first samples</a:t>
            </a:r>
          </a:p>
          <a:p>
            <a:r>
              <a:rPr lang="en-GB" sz="1600"/>
              <a:t>• September 2026: Cairn &amp; Co decision and order</a:t>
            </a:r>
          </a:p>
          <a:p>
            <a:r>
              <a:rPr lang="en-GB" sz="1600"/>
              <a:t>• February 2027: production; April 2027: in store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00000"/>
            <a:ext cx="8229600" cy="7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2800"/>
              <a:t>Next steps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100000"/>
            <a:ext cx="8229600" cy="3800000"/>
          </a:xfrm>
          <a:prstGeom prst="rect">
            <a:avLst/>
          </a:prstGeom>
        </p:spPr>
        <p:txBody>
          <a:bodyPr wrap="square"/>
          <a:lstStyle/>
          <a:p>
            <a:r>
              <a:rPr lang="en-GB" sz="1600"/>
              <a:t>• Cairn &amp; Co to share store-level AW25 sales by 19 June</a:t>
            </a:r>
          </a:p>
          <a:p>
            <a:r>
              <a:rPr lang="en-GB" sz="1600"/>
              <a:t>• Kestrel Bay to send own-label costings by 3 July</a:t>
            </a:r>
          </a:p>
          <a:p>
            <a:r>
              <a:rPr lang="en-GB" sz="1600"/>
              <a:t>• Follow-up meeting in Bristol, date to be agreed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n">
  <a:themeElements>
    <a:clrScheme name="Plain">
      <a:dk1>
        <a:srgbClr val="000000"/>
      </a:dk1>
      <a:lt1>
        <a:srgbClr val="FFFFFF"/>
      </a:lt1>
      <a:dk2>
        <a:srgbClr val="1F2A2E"/>
      </a:dk2>
      <a:lt2>
        <a:srgbClr val="EEEEEE"/>
      </a:lt2>
      <a:accent1>
        <a:srgbClr val="2F5D50"/>
      </a:accent1>
      <a:accent2>
        <a:srgbClr val="A86400"/>
      </a:accent2>
      <a:accent3>
        <a:srgbClr val="5C6770"/>
      </a:accent3>
      <a:accent4>
        <a:srgbClr val="2E7D4F"/>
      </a:accent4>
      <a:accent5>
        <a:srgbClr val="B3261E"/>
      </a:accent5>
      <a:accent6>
        <a:srgbClr val="6B6860"/>
      </a:accent6>
      <a:hlink>
        <a:srgbClr val="0563C1"/>
      </a:hlink>
      <a:folHlink>
        <a:srgbClr val="954F72"/>
      </a:folHlink>
    </a:clrScheme>
    <a:fontScheme name="Plai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lai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Cairn &amp; Co range review AW26</dc:title>
</cp:coreProperties>
</file>