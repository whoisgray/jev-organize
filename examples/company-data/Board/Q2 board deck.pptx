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00000"/>
            <a:ext cx="8229600" cy="7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2800"/>
              <a:t>Kestrel Bay Supplies Ltd - Q2 2026 Board Pack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100000"/>
            <a:ext cx="8229600" cy="38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1600"/>
              <a:t>• Board meeting, 16 July 2026, 14 Quayside Lane, Bristol</a:t>
            </a:r>
          </a:p>
          <a:p>
            <a:r>
              <a:rPr lang="en-GB" sz="1600"/>
              <a:t>• Presented by Helen Marsh (CEO) and Nadia Brennan (FD)</a:t>
            </a:r>
          </a:p>
          <a:p>
            <a:r>
              <a:rPr lang="en-GB" sz="1600"/>
              <a:t>• Strictly confidential - not for circulation outside the 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00000"/>
            <a:ext cx="8229600" cy="7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2800"/>
              <a:t>Agenda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100000"/>
            <a:ext cx="8229600" cy="38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1600"/>
              <a:t>• Q2 results and H1 against budget</a:t>
            </a:r>
          </a:p>
          <a:p>
            <a:r>
              <a:rPr lang="en-GB" sz="1600"/>
              <a:t>• Operations and customer service</a:t>
            </a:r>
          </a:p>
          <a:p>
            <a:r>
              <a:rPr lang="en-GB" sz="1600"/>
              <a:t>• Commercial pipeline</a:t>
            </a:r>
          </a:p>
          <a:p>
            <a:r>
              <a:rPr lang="en-GB" sz="1600"/>
              <a:t>• Product: Ridgeback 2P</a:t>
            </a:r>
          </a:p>
          <a:p>
            <a:r>
              <a:rPr lang="en-GB" sz="1600"/>
              <a:t>• People</a:t>
            </a:r>
          </a:p>
          <a:p>
            <a:r>
              <a:rPr lang="en-GB" sz="1600"/>
              <a:t>• Risks</a:t>
            </a:r>
          </a:p>
          <a:p>
            <a:r>
              <a:rPr lang="en-GB" sz="1600"/>
              <a:t>• Decisions required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00000"/>
            <a:ext cx="8229600" cy="7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2800"/>
              <a:t>Q2 at a glance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100000"/>
            <a:ext cx="8229600" cy="38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1600"/>
              <a:t>• Revenue £1,551,500 against budget £1,540,000 (+0.7%)</a:t>
            </a:r>
          </a:p>
          <a:p>
            <a:r>
              <a:rPr lang="en-GB" sz="1600"/>
              <a:t>• Gross margin 53.2% (budget 53.0%)</a:t>
            </a:r>
          </a:p>
          <a:p>
            <a:r>
              <a:rPr lang="en-GB" sz="1600"/>
              <a:t>• EBITDA £114,500 against budget £110,800</a:t>
            </a:r>
          </a:p>
          <a:p>
            <a:r>
              <a:rPr lang="en-GB" sz="1600"/>
              <a:t>• H1 EBITDA £10,500 (budget £9,800) after the seasonal Q1 loss of £104,000</a:t>
            </a:r>
          </a:p>
          <a:p>
            <a:r>
              <a:rPr lang="en-GB" sz="1600"/>
              <a:t>• Cash at 30 June £286,900; £400,000 overdraft facility undrawn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00000"/>
            <a:ext cx="8229600" cy="7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2800"/>
              <a:t>Revenue by channel - Q2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100000"/>
            <a:ext cx="8229600" cy="38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1600"/>
              <a:t>• Online (DTC) £814,700, budget £800,000 (+1.8%)</a:t>
            </a:r>
          </a:p>
          <a:p>
            <a:r>
              <a:rPr lang="en-GB" sz="1600"/>
              <a:t>• Wholesale £594,600, budget £600,000 (-0.9%)</a:t>
            </a:r>
          </a:p>
          <a:p>
            <a:r>
              <a:rPr lang="en-GB" sz="1600"/>
              <a:t>• Marketplaces £142,200, budget £140,000 (+1.6%)</a:t>
            </a:r>
          </a:p>
          <a:p>
            <a:r>
              <a:rPr lang="en-GB" sz="1600"/>
              <a:t>• Returns rate 6.1% of units (Q1: 7.4%)</a:t>
            </a:r>
          </a:p>
          <a:p>
            <a:r>
              <a:rPr lang="en-GB" sz="1600"/>
              <a:t>• Average online order value £86.40 (budget £84.00)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00000"/>
            <a:ext cx="8229600" cy="7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2800"/>
              <a:t>Operations and service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100000"/>
            <a:ext cx="8229600" cy="38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1600"/>
              <a:t>• 21,840 orders dispatched in Q2; 97.2% dispatched same or next day</a:t>
            </a:r>
          </a:p>
          <a:p>
            <a:r>
              <a:rPr lang="en-GB" sz="1600"/>
              <a:t>• Carrier on-time rate 96.9% in May against a 98.5% SLA; £2,310 service credits claimed</a:t>
            </a:r>
          </a:p>
          <a:p>
            <a:r>
              <a:rPr lang="en-GB" sz="1600"/>
              <a:t>• Hosting outage on 14 June: 47 minutes; estimated lost sales £3,800</a:t>
            </a:r>
          </a:p>
          <a:p>
            <a:r>
              <a:rPr lang="en-GB" sz="1600"/>
              <a:t>• Warehouse pick rate 91 lines per hour (Q1: 88)</a:t>
            </a:r>
          </a:p>
          <a:p>
            <a:r>
              <a:rPr lang="en-GB" sz="1600"/>
              <a:t>• Support: median first response 3.2 hours; CSAT 4.4 out of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00000"/>
            <a:ext cx="8229600" cy="7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2800"/>
              <a:t>Commercial pipeline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100000"/>
            <a:ext cx="8229600" cy="38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1600"/>
              <a:t>• Brightwater Retail Group: final proposal 27 May, range confirmed 12 June, first PO £122,170 received 14 July</a:t>
            </a:r>
          </a:p>
          <a:p>
            <a:r>
              <a:rPr lang="en-GB" sz="1600"/>
              <a:t>• Cairn &amp; Co Outfitters: own-label concept presented 9 June under NDA; decision expected September</a:t>
            </a:r>
          </a:p>
          <a:p>
            <a:r>
              <a:rPr lang="en-GB" sz="1600"/>
              <a:t>• Logistics contract renewed from 1 July with 4% lower parcel rates</a:t>
            </a:r>
          </a:p>
          <a:p>
            <a:r>
              <a:rPr lang="en-GB" sz="1600"/>
              <a:t>• Outdoor Trade Expo stand booked for September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00000"/>
            <a:ext cx="8229600" cy="7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2800"/>
              <a:t>Product - Ridgeback 2P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100000"/>
            <a:ext cx="8229600" cy="38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1600"/>
              <a:t>• Round 1 samples received 22 June; 70 g over weight target</a:t>
            </a:r>
          </a:p>
          <a:p>
            <a:r>
              <a:rPr lang="en-GB" sz="1600"/>
              <a:t>• Fix: lighter pole hub (saves 45 g) plus 15D inner mesh (saves 30 g)</a:t>
            </a:r>
          </a:p>
          <a:p>
            <a:r>
              <a:rPr lang="en-GB" sz="1600"/>
              <a:t>• Launch 1 February 2027 on track; pre-orders from retailers 150 units so far</a:t>
            </a:r>
          </a:p>
          <a:p>
            <a:r>
              <a:rPr lang="en-GB" sz="1600"/>
              <a:t>• Tooling and sample spend £19,400 of the £24,000 approved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00000"/>
            <a:ext cx="8229600" cy="7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2800"/>
              <a:t>People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100000"/>
            <a:ext cx="8229600" cy="38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1600"/>
              <a:t>• Headcount 41 (40.2 FTE); turnover over the last 12 months 11%</a:t>
            </a:r>
          </a:p>
          <a:p>
            <a:r>
              <a:rPr lang="en-GB" sz="1600"/>
              <a:t>• Annual pay review completed: average increase 3.4% (budget 3.5%)</a:t>
            </a:r>
          </a:p>
          <a:p>
            <a:r>
              <a:rPr lang="en-GB" sz="1600"/>
              <a:t>• Warehouse Team Leader role to be advertised in August before peak season</a:t>
            </a:r>
          </a:p>
          <a:p>
            <a:r>
              <a:rPr lang="en-GB" sz="1600"/>
              <a:t>• Phishing training completion 78%; target 100% by 31 August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00000"/>
            <a:ext cx="8229600" cy="7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2800"/>
              <a:t>Top risks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100000"/>
            <a:ext cx="8229600" cy="38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1600"/>
              <a:t>• Single fabric supplier for tents and jackets (mitigation: second source trial in Q4)</a:t>
            </a:r>
          </a:p>
          <a:p>
            <a:r>
              <a:rPr lang="en-GB" sz="1600"/>
              <a:t>• Carrier performance ahead of peak season</a:t>
            </a:r>
          </a:p>
          <a:p>
            <a:r>
              <a:rPr lang="en-GB" sz="1600"/>
              <a:t>• Cyber security: one account compromise in May (contained, no loss)</a:t>
            </a:r>
          </a:p>
          <a:p>
            <a:r>
              <a:rPr lang="en-GB" sz="1600"/>
              <a:t>• Wholesale concentration: Brightwater would be 11% of FY27 revenue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00000"/>
            <a:ext cx="8229600" cy="7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2800"/>
              <a:t>Decisions required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100000"/>
            <a:ext cx="8229600" cy="38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1600"/>
              <a:t>• Approve AW26 "Into the Fells" campaign spend of £48,000 (within budget)</a:t>
            </a:r>
          </a:p>
          <a:p>
            <a:r>
              <a:rPr lang="en-GB" sz="1600"/>
              <a:t>• Approve web replatform discovery at £40,000 (Q3 capex, in budget)</a:t>
            </a:r>
          </a:p>
          <a:p>
            <a:r>
              <a:rPr lang="en-GB" sz="1600"/>
              <a:t>• Note the renewed logistics contract and the Brightwater terms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in">
  <a:themeElements>
    <a:clrScheme name="Plain">
      <a:dk1>
        <a:srgbClr val="000000"/>
      </a:dk1>
      <a:lt1>
        <a:srgbClr val="FFFFFF"/>
      </a:lt1>
      <a:dk2>
        <a:srgbClr val="1F2A2E"/>
      </a:dk2>
      <a:lt2>
        <a:srgbClr val="EEEEEE"/>
      </a:lt2>
      <a:accent1>
        <a:srgbClr val="2F5D50"/>
      </a:accent1>
      <a:accent2>
        <a:srgbClr val="A86400"/>
      </a:accent2>
      <a:accent3>
        <a:srgbClr val="5C6770"/>
      </a:accent3>
      <a:accent4>
        <a:srgbClr val="2E7D4F"/>
      </a:accent4>
      <a:accent5>
        <a:srgbClr val="B3261E"/>
      </a:accent5>
      <a:accent6>
        <a:srgbClr val="6B6860"/>
      </a:accent6>
      <a:hlink>
        <a:srgbClr val="0563C1"/>
      </a:hlink>
      <a:folHlink>
        <a:srgbClr val="954F72"/>
      </a:folHlink>
    </a:clrScheme>
    <a:fontScheme name="Plai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lai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Q2 board deck</dc:title>
</cp:coreProperties>
</file>